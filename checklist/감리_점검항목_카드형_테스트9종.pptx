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9D6E8"/>
                </a:solidFill>
                <a:latin typeface="맑은 고딕"/>
              </a:rPr>
              <a:t>TEST SAMPLE · 9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검토항목별 출처·근거 인포그래픽 슬라이드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D8E0EC"/>
                </a:solidFill>
                <a:latin typeface="맑은 고딕"/>
              </a:rPr>
              <a:t>사업유형별(클라우드전환·운영및유지관리·생성형AI) 3개 항목씩, 총 9개 항목 테스트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1415" y="3108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51415" y="3108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클라우드전환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9D6E8"/>
                </a:solidFill>
                <a:latin typeface="맑은 고딕"/>
              </a:rPr>
              <a:t>1. 클라우드전환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0">
                <a:solidFill>
                  <a:srgbClr val="C9D6E8"/>
                </a:solidFill>
                <a:latin typeface="맑은 고딕"/>
              </a:rPr>
              <a:t>1. 요구정의단계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가. 사업관리 및 품질보증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점검항목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1. 사업범위 및 과업관리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0552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[1-1-가-1-01]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</a:rPr>
              <a:t>검토항목 일련번호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4617720" cy="114300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416052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맑은 고딕"/>
              </a:rPr>
              <a:t>사업계획서, 제안요청서, 제안서, 계약서 간 과업 범위가 일관되게 정의되어 있는가?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2394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95959"/>
                </a:solidFill>
                <a:latin typeface="맑은 고딕"/>
              </a:rPr>
              <a:t>상세 검토항목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" y="4539996"/>
            <a:ext cx="100584" cy="10058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48970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클라우드 전환 대상 시스템·업무·서비스 범위 확인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" y="5152644"/>
            <a:ext cx="100584" cy="10058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102352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전환 제외 대상 및 제외 사유 확인</a:t>
            </a:r>
          </a:p>
        </p:txBody>
      </p:sp>
      <p:sp>
        <p:nvSpPr>
          <p:cNvPr id="20" name="Oval 19"/>
          <p:cNvSpPr/>
          <p:nvPr/>
        </p:nvSpPr>
        <p:spPr>
          <a:xfrm>
            <a:off x="836676" y="5545836"/>
            <a:ext cx="100584" cy="10058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49554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요구정의 단계 수행 과업과 산출물 정의 여부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618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9D6E8"/>
                </a:solidFill>
                <a:latin typeface="맑은 고딕"/>
              </a:rPr>
              <a:t>출처 문헌 → 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00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법정 근거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91656" y="2212848"/>
            <a:ext cx="0" cy="1565452"/>
          </a:xfrm>
          <a:prstGeom prst="line">
            <a:avLst/>
          </a:prstGeom>
          <a:ln w="15875">
            <a:solidFill>
              <a:srgbClr val="5A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18504" y="2139696"/>
            <a:ext cx="146304" cy="14630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2130552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176272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07A2C"/>
                </a:solidFill>
                <a:latin typeface="맑은 고딕"/>
              </a:rPr>
              <a:t>[수행가이드] 정보시스템감리기준 제8조①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386584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계약문서 과업내용의 요구사항정의서 반영 여부 점검 — 감리법인 법정 의무</a:t>
            </a:r>
          </a:p>
        </p:txBody>
      </p:sp>
      <p:sp>
        <p:nvSpPr>
          <p:cNvPr id="31" name="Oval 30"/>
          <p:cNvSpPr/>
          <p:nvPr/>
        </p:nvSpPr>
        <p:spPr>
          <a:xfrm>
            <a:off x="6318504" y="2922422"/>
            <a:ext cx="146304" cy="14630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1968" y="2913278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2958998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07A2C"/>
                </a:solidFill>
                <a:latin typeface="맑은 고딕"/>
              </a:rPr>
              <a:t>[수행가이드] 과업대비표(용어정의 1.4.11)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169310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제안요청서·제안서·기술협상서·사업수행계획서 간 과업 누락 대비 문서</a:t>
            </a:r>
          </a:p>
        </p:txBody>
      </p:sp>
      <p:sp>
        <p:nvSpPr>
          <p:cNvPr id="35" name="Oval 34"/>
          <p:cNvSpPr/>
          <p:nvPr/>
        </p:nvSpPr>
        <p:spPr>
          <a:xfrm>
            <a:off x="6318504" y="3705148"/>
            <a:ext cx="146304" cy="14630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01968" y="3696004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741724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07A2C"/>
                </a:solidFill>
                <a:latin typeface="맑은 고딕"/>
              </a:rPr>
              <a:t>[점검해설서] PM01-1 검토항목 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952036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제안요청서(RFP)/제안서/계약서와 사업수행계획서 간 일관성, 과업범위 누락 여부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27648" y="4369002"/>
            <a:ext cx="182880" cy="182880"/>
          </a:xfrm>
          <a:prstGeom prst="downArrow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09360" y="4643322"/>
            <a:ext cx="5074920" cy="1483158"/>
          </a:xfrm>
          <a:prstGeom prst="roundRect">
            <a:avLst>
              <a:gd name="adj" fmla="val 7000"/>
            </a:avLst>
          </a:prstGeom>
          <a:solidFill>
            <a:srgbClr val="2A4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43322"/>
            <a:ext cx="73152" cy="1483158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475305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E07A2C"/>
                </a:solidFill>
                <a:latin typeface="맑은 고딕"/>
              </a:rPr>
              <a:t>핵심 근거 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5063946"/>
            <a:ext cx="4617720" cy="1016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「정보시스템감리기준」 제8조①이 계약문서와 요구사항정의서 간 일치 점검을 감리법인의 법정 의무로 규정하고, 이를 위한 표준 도구로 "과업대비표"를 정의한다. 점검해설서·지침도 동일 취지를 뒷받침하여, 4개 문헌 모두 일치하는 법정 의무 수준의 직접 근거이다.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감리 점검항목 출처·근거 조사 프로젝트   |   [1-1-가-1-01]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1415" y="3108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51415" y="3108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클라우드전환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9D6E8"/>
                </a:solidFill>
                <a:latin typeface="맑은 고딕"/>
              </a:rPr>
              <a:t>1. 클라우드전환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0">
                <a:solidFill>
                  <a:srgbClr val="C9D6E8"/>
                </a:solidFill>
                <a:latin typeface="맑은 고딕"/>
              </a:rPr>
              <a:t>1. 요구정의단계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가. 사업관리 및 품질보증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점검항목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1. 사업범위 및 과업관리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0552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[1-1-가-1-02]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</a:rPr>
              <a:t>검토항목 일련번호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4617720" cy="86868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맑은 고딕"/>
              </a:rPr>
              <a:t>클라우드 전환 대상과 제외 대상의 기준이 명확한가?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96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95959"/>
                </a:solidFill>
                <a:latin typeface="맑은 고딕"/>
              </a:rPr>
              <a:t>상세 검토항목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" y="4265676"/>
            <a:ext cx="100584" cy="10058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215384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전환 대상 선정 기준 확인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" y="4658868"/>
            <a:ext cx="100584" cy="10058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608576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업무 중요도, 기술 제약, 보안등급 반영 여부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18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9D6E8"/>
                </a:solidFill>
                <a:latin typeface="맑은 고딕"/>
              </a:rPr>
              <a:t>출처 문헌 →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600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제도적 근거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91656" y="2212848"/>
            <a:ext cx="0" cy="1592884"/>
          </a:xfrm>
          <a:prstGeom prst="line">
            <a:avLst/>
          </a:prstGeom>
          <a:ln w="15875">
            <a:solidFill>
              <a:srgbClr val="5A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318504" y="2139696"/>
            <a:ext cx="146304" cy="14630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01968" y="2130552"/>
            <a:ext cx="4782312" cy="66842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176272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E07A2C"/>
                </a:solidFill>
                <a:latin typeface="맑은 고딕"/>
              </a:rPr>
              <a:t>[클라우드가이드/지능정보기술가이드] 표 3-16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86584"/>
            <a:ext cx="4453128" cy="3758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맑은 고딕"/>
              </a:rPr>
              <a:t>장비연한·SW기술지원 만료, 상용SW전환가능성, DR필요성 등 전환 검토 기준(2016~2023 일관 유지)</a:t>
            </a:r>
          </a:p>
        </p:txBody>
      </p:sp>
      <p:sp>
        <p:nvSpPr>
          <p:cNvPr id="29" name="Oval 28"/>
          <p:cNvSpPr/>
          <p:nvPr/>
        </p:nvSpPr>
        <p:spPr>
          <a:xfrm>
            <a:off x="6318504" y="2936138"/>
            <a:ext cx="146304" cy="14630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01968" y="2926994"/>
            <a:ext cx="4782312" cy="66842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2972714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E07A2C"/>
                </a:solidFill>
                <a:latin typeface="맑은 고딕"/>
              </a:rPr>
              <a:t>[클라우드가이드] 표 3-7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183026"/>
            <a:ext cx="4453128" cy="3758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맑은 고딕"/>
              </a:rPr>
              <a:t>기관유형 × 정보자원 중요도(상/중/하)별 G-클라우드·자체·민간 클라우드 적용 우선원칙</a:t>
            </a:r>
          </a:p>
        </p:txBody>
      </p:sp>
      <p:sp>
        <p:nvSpPr>
          <p:cNvPr id="33" name="Oval 32"/>
          <p:cNvSpPr/>
          <p:nvPr/>
        </p:nvSpPr>
        <p:spPr>
          <a:xfrm>
            <a:off x="6318504" y="3732580"/>
            <a:ext cx="146304" cy="14630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01968" y="3723436"/>
            <a:ext cx="4782312" cy="66842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769156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E07A2C"/>
                </a:solidFill>
                <a:latin typeface="맑은 고딕"/>
              </a:rPr>
              <a:t>[지침] 제6조(하드웨어·소프트웨어 도입기준)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979468"/>
            <a:ext cx="4453128" cy="3758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맑은 고딕"/>
              </a:rPr>
              <a:t>정보자원 교체·신규도입 시 클라우드컴퓨팅법 제12·20조에 따른 우선 검토 의무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6327648" y="4410150"/>
            <a:ext cx="182880" cy="182880"/>
          </a:xfrm>
          <a:prstGeom prst="downArrow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9360" y="4684470"/>
            <a:ext cx="5074920" cy="1442010"/>
          </a:xfrm>
          <a:prstGeom prst="roundRect">
            <a:avLst>
              <a:gd name="adj" fmla="val 7000"/>
            </a:avLst>
          </a:prstGeom>
          <a:solidFill>
            <a:srgbClr val="2A4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684470"/>
            <a:ext cx="73152" cy="144201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479419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E07A2C"/>
                </a:solidFill>
                <a:latin typeface="맑은 고딕"/>
              </a:rPr>
              <a:t>핵심 근거 요약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5105094"/>
            <a:ext cx="4617720" cy="9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표 3-16이 기술적 제약 기준을, 표 3-7이 업무중요도·보안등급별 적용원칙을 각각 뒷받침하며 지침 제6조가 법적 출발점을 제공한다. 다만 [수행가이드]는 클라우드 미특화 범용 문헌으로 본 항목의 근거가 확인되지 않는다.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감리 점검항목 출처·근거 조사 프로젝트   |   [1-1-가-1-02]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1415" y="3108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51415" y="3108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클라우드전환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9D6E8"/>
                </a:solidFill>
                <a:latin typeface="맑은 고딕"/>
              </a:rPr>
              <a:t>1. 클라우드전환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0">
                <a:solidFill>
                  <a:srgbClr val="C9D6E8"/>
                </a:solidFill>
                <a:latin typeface="맑은 고딕"/>
              </a:rPr>
              <a:t>1. 요구정의단계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가. 사업관리 및 품질보증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점검항목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1. 사업범위 및 과업관리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0552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[1-1-가-1-03]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</a:rPr>
              <a:t>검토항목 일련번호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4617720" cy="114300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416052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맑은 고딕"/>
              </a:rPr>
              <a:t>과업 변경 가능성이 있는 항목에 대한 변경관리 절차가 마련되어 있는가?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2394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95959"/>
                </a:solidFill>
                <a:latin typeface="맑은 고딕"/>
              </a:rPr>
              <a:t>상세 검토항목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" y="4539996"/>
            <a:ext cx="100584" cy="10058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489704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변경요청, 영향도 분석, 승인 절차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18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9D6E8"/>
                </a:solidFill>
                <a:latin typeface="맑은 고딕"/>
              </a:rPr>
              <a:t>출처 문헌 → 근거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600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법정 근거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91656" y="2212848"/>
            <a:ext cx="0" cy="1565452"/>
          </a:xfrm>
          <a:prstGeom prst="line">
            <a:avLst/>
          </a:prstGeom>
          <a:ln w="15875">
            <a:solidFill>
              <a:srgbClr val="5A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318504" y="2139696"/>
            <a:ext cx="146304" cy="14630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01968" y="2130552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176272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07A2C"/>
                </a:solidFill>
                <a:latin typeface="맑은 고딕"/>
              </a:rPr>
              <a:t>[수행가이드] 정보시스템감리기준 제10조의2①2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386584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과업 범위(요구사항) 구체화 및 과업변경 영향·타당성 검토 — 상주감리 법정업무</a:t>
            </a:r>
          </a:p>
        </p:txBody>
      </p:sp>
      <p:sp>
        <p:nvSpPr>
          <p:cNvPr id="27" name="Oval 26"/>
          <p:cNvSpPr/>
          <p:nvPr/>
        </p:nvSpPr>
        <p:spPr>
          <a:xfrm>
            <a:off x="6318504" y="2922422"/>
            <a:ext cx="146304" cy="14630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2913278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958998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07A2C"/>
                </a:solidFill>
                <a:latin typeface="맑은 고딕"/>
              </a:rPr>
              <a:t>[수행가이드] 4.7 사업관리 표준점검항목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169310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변경관리체계 수립(계획단계) / 범위 변경관리 수행(실행·통제단계)</a:t>
            </a:r>
          </a:p>
        </p:txBody>
      </p:sp>
      <p:sp>
        <p:nvSpPr>
          <p:cNvPr id="31" name="Oval 30"/>
          <p:cNvSpPr/>
          <p:nvPr/>
        </p:nvSpPr>
        <p:spPr>
          <a:xfrm>
            <a:off x="6318504" y="3705148"/>
            <a:ext cx="146304" cy="146304"/>
          </a:xfrm>
          <a:prstGeom prst="ellipse">
            <a:avLst/>
          </a:prstGeom>
          <a:solidFill>
            <a:srgbClr val="E07A2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1968" y="3696004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741724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07A2C"/>
                </a:solidFill>
                <a:latin typeface="맑은 고딕"/>
              </a:rPr>
              <a:t>[점검해설서] PM01-1 검토항목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952036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변경관리 절차 정립, 파급효과 분석(일정·비용·자원·품질), 변경 이력관리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27648" y="4369002"/>
            <a:ext cx="182880" cy="182880"/>
          </a:xfrm>
          <a:prstGeom prst="downArrow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09360" y="4643322"/>
            <a:ext cx="5074920" cy="1483158"/>
          </a:xfrm>
          <a:prstGeom prst="roundRect">
            <a:avLst>
              <a:gd name="adj" fmla="val 7000"/>
            </a:avLst>
          </a:prstGeom>
          <a:solidFill>
            <a:srgbClr val="2A4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643322"/>
            <a:ext cx="73152" cy="1483158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475305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E07A2C"/>
                </a:solidFill>
                <a:latin typeface="맑은 고딕"/>
              </a:rPr>
              <a:t>핵심 근거 요약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5063946"/>
            <a:ext cx="4617720" cy="1016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제10조의2①2가 과업변경 영향·타당성 검토를 상주감리원의 법정 업무로 명시하고, 계획·실행 전 주기에 걸친 변경관리체계 수립·수행을 요구한다. 지침의 변경절차·대가조정 규정, 발주관리가이드의 과업심의위원회 절차가 추가로 뒷받침하는 법정 의무 수준의 근거이다.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감리 점검항목 출처·근거 조사 프로젝트   |   [1-1-가-1-03]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1415" y="3108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51415" y="3108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운영 및 유지관리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9D6E8"/>
                </a:solidFill>
                <a:latin typeface="맑은 고딕"/>
              </a:rPr>
              <a:t>2. 운영및유지관리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0">
                <a:solidFill>
                  <a:srgbClr val="C9D6E8"/>
                </a:solidFill>
                <a:latin typeface="맑은 고딕"/>
              </a:rPr>
              <a:t>1. 요구정의단계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가. 사업관리 및 품질보증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점검항목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1. 운영·유지관리 과업범위 정의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0552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[2-1-가-1-01]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</a:rPr>
              <a:t>검토항목 일련번호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4617720" cy="86868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맑은 고딕"/>
              </a:rPr>
              <a:t>운영 및 유지관리 대상과 과업범위가 명확하게 정의되어 있는가?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96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95959"/>
                </a:solidFill>
                <a:latin typeface="맑은 고딕"/>
              </a:rPr>
              <a:t>상세 검토항목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" y="4265676"/>
            <a:ext cx="100584" cy="10058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21538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개발SW 운영, 인프라 운영, 개발SW·상용SW·인프라 유지관리 대상 식별 여부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" y="4878324"/>
            <a:ext cx="100584" cy="10058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828032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대상 시스템·업무서비스·장비·DB·상용SW·연계시스템 범위 정의 여부</a:t>
            </a:r>
          </a:p>
        </p:txBody>
      </p:sp>
      <p:sp>
        <p:nvSpPr>
          <p:cNvPr id="20" name="Oval 19"/>
          <p:cNvSpPr/>
          <p:nvPr/>
        </p:nvSpPr>
        <p:spPr>
          <a:xfrm>
            <a:off x="836676" y="5490972"/>
            <a:ext cx="100584" cy="10058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440680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운영 업무와 유지관리 업무의 구분, 중복·누락 여부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618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9D6E8"/>
                </a:solidFill>
                <a:latin typeface="맑은 고딕"/>
              </a:rPr>
              <a:t>출처 문헌 → 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00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법정 근거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91656" y="2212848"/>
            <a:ext cx="0" cy="1565452"/>
          </a:xfrm>
          <a:prstGeom prst="line">
            <a:avLst/>
          </a:prstGeom>
          <a:ln w="15875">
            <a:solidFill>
              <a:srgbClr val="5A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18504" y="2139696"/>
            <a:ext cx="146304" cy="14630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2130552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2E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176272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E868C"/>
                </a:solidFill>
                <a:latin typeface="맑은 고딕"/>
              </a:rPr>
              <a:t>[구축운영지침] 제2조(정의) 10·11호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386584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"유지관리"=기능변경·보완 등 개선활동, "운영"=모니터링·테스트·사용자지원 등 정상운영활동으로 법적 개념 구분</a:t>
            </a:r>
          </a:p>
        </p:txBody>
      </p:sp>
      <p:sp>
        <p:nvSpPr>
          <p:cNvPr id="31" name="Oval 30"/>
          <p:cNvSpPr/>
          <p:nvPr/>
        </p:nvSpPr>
        <p:spPr>
          <a:xfrm>
            <a:off x="6318504" y="2922422"/>
            <a:ext cx="146304" cy="14630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1968" y="2913278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2E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2958998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E868C"/>
                </a:solidFill>
                <a:latin typeface="맑은 고딕"/>
              </a:rPr>
              <a:t>[지능정보기술가이드] Ⅲ장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169310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감리대상을 개발SW·상용SW·인프라로 구분, 운영 16개·유지보수 36개 표준 점검항목 구성</a:t>
            </a:r>
          </a:p>
        </p:txBody>
      </p:sp>
      <p:sp>
        <p:nvSpPr>
          <p:cNvPr id="35" name="Oval 34"/>
          <p:cNvSpPr/>
          <p:nvPr/>
        </p:nvSpPr>
        <p:spPr>
          <a:xfrm>
            <a:off x="6318504" y="3705148"/>
            <a:ext cx="146304" cy="14630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01968" y="3696004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2E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741724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E868C"/>
                </a:solidFill>
                <a:latin typeface="맑은 고딕"/>
              </a:rPr>
              <a:t>[IT아웃소싱매뉴얼] A110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952036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SW운영/SW유지보수/SW재개발 3유형 분류, 조달청·특허청 사례 — SLA로 범위 명확화 권고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27648" y="4369002"/>
            <a:ext cx="182880" cy="182880"/>
          </a:xfrm>
          <a:prstGeom prst="downArrow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09360" y="4643322"/>
            <a:ext cx="5074920" cy="1483158"/>
          </a:xfrm>
          <a:prstGeom prst="roundRect">
            <a:avLst>
              <a:gd name="adj" fmla="val 7000"/>
            </a:avLst>
          </a:prstGeom>
          <a:solidFill>
            <a:srgbClr val="2A4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43322"/>
            <a:ext cx="73152" cy="1483158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475305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E868C"/>
                </a:solidFill>
                <a:latin typeface="맑은 고딕"/>
              </a:rPr>
              <a:t>핵심 근거 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5063946"/>
            <a:ext cx="4617720" cy="1016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구축운영지침 제2조가 운영과 유지관리를 법적으로 명확히 개념 구분하고, 지능정보기술가이드가 감리대상별(개발SW·상용SW·인프라) 세부 점검항목 수까지 구체화한다. IT아웃소싱매뉴얼의 실제 기관사례는 범위 혼재 위험과 SLA를 통한 명확화 필요성을 뒷받침한다.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감리 점검항목 출처·근거 조사 프로젝트   |   [2-1-가-1-01]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1415" y="3108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51415" y="3108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운영 및 유지관리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9D6E8"/>
                </a:solidFill>
                <a:latin typeface="맑은 고딕"/>
              </a:rPr>
              <a:t>2. 운영및유지관리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0">
                <a:solidFill>
                  <a:srgbClr val="C9D6E8"/>
                </a:solidFill>
                <a:latin typeface="맑은 고딕"/>
              </a:rPr>
              <a:t>1. 요구정의단계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가. 사업관리 및 품질보증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점검항목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1. 운영·유지관리 과업범위 정의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0552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[2-1-가-1-02]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</a:rPr>
              <a:t>검토항목 일련번호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4617720" cy="86868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맑은 고딕"/>
              </a:rPr>
              <a:t>계약·제안·요구사항 간 과업범위가 일관되는가?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96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95959"/>
                </a:solidFill>
                <a:latin typeface="맑은 고딕"/>
              </a:rPr>
              <a:t>상세 검토항목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" y="4265676"/>
            <a:ext cx="100584" cy="10058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21538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RFP, 제안서, 계약서, 과업지시서, 운영·유지관리 계획 간 범위 정합성 확인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" y="4878324"/>
            <a:ext cx="100584" cy="10058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828032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정기점검, 장애처리, 변경처리, 패치, 배포, 기술지원 범위 일치 여부</a:t>
            </a:r>
          </a:p>
        </p:txBody>
      </p:sp>
      <p:sp>
        <p:nvSpPr>
          <p:cNvPr id="20" name="Oval 19"/>
          <p:cNvSpPr/>
          <p:nvPr/>
        </p:nvSpPr>
        <p:spPr>
          <a:xfrm>
            <a:off x="836676" y="5490972"/>
            <a:ext cx="100584" cy="10058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440680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무상지원, 하자보수, 유지관리, 운영지원 간 책임구분 명확성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618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9D6E8"/>
                </a:solidFill>
                <a:latin typeface="맑은 고딕"/>
              </a:rPr>
              <a:t>출처 문헌 → 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00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B0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법정 근거 · 확인필요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91656" y="2212848"/>
            <a:ext cx="0" cy="824788"/>
          </a:xfrm>
          <a:prstGeom prst="line">
            <a:avLst/>
          </a:prstGeom>
          <a:ln w="15875">
            <a:solidFill>
              <a:srgbClr val="5A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18504" y="2139696"/>
            <a:ext cx="146304" cy="14630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2130552"/>
            <a:ext cx="4782312" cy="6967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2E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176272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E868C"/>
                </a:solidFill>
                <a:latin typeface="맑은 고딕"/>
              </a:rPr>
              <a:t>[수행가이드] 정보시스템 감리기준 제8조①~④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386584"/>
            <a:ext cx="4453128" cy="404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요구정의단계 감리 목적 = 계약문서 과업내용의 요구사항정의서 반영 여부 점검</a:t>
            </a:r>
          </a:p>
        </p:txBody>
      </p:sp>
      <p:sp>
        <p:nvSpPr>
          <p:cNvPr id="31" name="Oval 30"/>
          <p:cNvSpPr/>
          <p:nvPr/>
        </p:nvSpPr>
        <p:spPr>
          <a:xfrm>
            <a:off x="6318504" y="2964484"/>
            <a:ext cx="146304" cy="14630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1968" y="2955340"/>
            <a:ext cx="4782312" cy="6967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2E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001060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E868C"/>
                </a:solidFill>
                <a:latin typeface="맑은 고딕"/>
              </a:rPr>
              <a:t>[발주관리가이드] 감리보고서 품질점검표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211372"/>
            <a:ext cx="4453128" cy="404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과업범위 관리 및 이행의 적정성 — 항목별 이행현황·근거 확인, 변경관리 적정성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27648" y="3670400"/>
            <a:ext cx="182880" cy="182880"/>
          </a:xfrm>
          <a:prstGeom prst="downArrow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09360" y="3944720"/>
            <a:ext cx="5074920" cy="2181760"/>
          </a:xfrm>
          <a:prstGeom prst="roundRect">
            <a:avLst>
              <a:gd name="adj" fmla="val 7000"/>
            </a:avLst>
          </a:prstGeom>
          <a:solidFill>
            <a:srgbClr val="2A4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944720"/>
            <a:ext cx="73152" cy="2181760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405444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E868C"/>
                </a:solidFill>
                <a:latin typeface="맑은 고딕"/>
              </a:rPr>
              <a:t>핵심 근거 요약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4365344"/>
            <a:ext cx="4617720" cy="171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요구정의단계 감리의 본질적 목적 자체가 계약문서와 요구사항정의서 간 정합성 확인이라는 점에서 직접적 절차 근거가 확보된다. 다만 정기점검·장애처리 등 개별 업무단위, 무상지원·하자보수 간 책임구분의 세부 기준은 1순위 문헌에 조문화되어 있지 않아 확인 필요.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감리 점검항목 출처·근거 조사 프로젝트   |   [2-1-가-1-02]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1415" y="3108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51415" y="3108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운영 및 유지관리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9D6E8"/>
                </a:solidFill>
                <a:latin typeface="맑은 고딕"/>
              </a:rPr>
              <a:t>2. 운영및유지관리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0">
                <a:solidFill>
                  <a:srgbClr val="C9D6E8"/>
                </a:solidFill>
                <a:latin typeface="맑은 고딕"/>
              </a:rPr>
              <a:t>1. 요구정의단계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가. 사업관리 및 품질보증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점검항목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1. 운영·유지관리 과업범위 정의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0552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[2-1-가-1-03]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</a:rPr>
              <a:t>검토항목 일련번호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4617720" cy="86868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맑은 고딕"/>
              </a:rPr>
              <a:t>과업 제외 또는 제한 대상이 명확히 정의되어 있는가?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96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95959"/>
                </a:solidFill>
                <a:latin typeface="맑은 고딕"/>
              </a:rPr>
              <a:t>상세 검토항목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" y="4265676"/>
            <a:ext cx="100584" cy="10058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21538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유지관리 제외 대상 시스템·장비·상용SW 식별 여부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" y="4878324"/>
            <a:ext cx="100584" cy="10058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828032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제외 사유와 운영상 영향 분석 여부</a:t>
            </a:r>
          </a:p>
        </p:txBody>
      </p:sp>
      <p:sp>
        <p:nvSpPr>
          <p:cNvPr id="20" name="Oval 19"/>
          <p:cNvSpPr/>
          <p:nvPr/>
        </p:nvSpPr>
        <p:spPr>
          <a:xfrm>
            <a:off x="836676" y="5271516"/>
            <a:ext cx="100584" cy="10058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22122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제외 대상에 대한 별도 지원 또는 대응방안 마련 여부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618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9D6E8"/>
                </a:solidFill>
                <a:latin typeface="맑은 고딕"/>
              </a:rPr>
              <a:t>출처 문헌 → 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00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B0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실무기준 · 확인필요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91656" y="2212848"/>
            <a:ext cx="0" cy="981151"/>
          </a:xfrm>
          <a:prstGeom prst="line">
            <a:avLst/>
          </a:prstGeom>
          <a:ln w="15875">
            <a:solidFill>
              <a:srgbClr val="5A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18504" y="2139696"/>
            <a:ext cx="146304" cy="14630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2130552"/>
            <a:ext cx="4782312" cy="85313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2E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176272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E868C"/>
                </a:solidFill>
                <a:latin typeface="맑은 고딕"/>
              </a:rPr>
              <a:t>[IT아웃소싱매뉴얼] A110 타기관사례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386584"/>
            <a:ext cx="4453128" cy="560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조달청·특허청 사례 — 운영·유지보수 혼재사용 지적, 서비스대상항목정의 참조하여 발주기관이 정할 필요</a:t>
            </a:r>
          </a:p>
        </p:txBody>
      </p:sp>
      <p:sp>
        <p:nvSpPr>
          <p:cNvPr id="31" name="Oval 30"/>
          <p:cNvSpPr/>
          <p:nvPr/>
        </p:nvSpPr>
        <p:spPr>
          <a:xfrm>
            <a:off x="6318504" y="3120847"/>
            <a:ext cx="146304" cy="146304"/>
          </a:xfrm>
          <a:prstGeom prst="ellipse">
            <a:avLst/>
          </a:prstGeom>
          <a:solidFill>
            <a:srgbClr val="2E86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1968" y="3111703"/>
            <a:ext cx="4782312" cy="6967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2E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157423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E868C"/>
                </a:solidFill>
                <a:latin typeface="맑은 고딕"/>
              </a:rPr>
              <a:t>[지능정보기술가이드] MA-DS-08[유지보수계획]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367735"/>
            <a:ext cx="4453128" cy="404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유지보수 대상 및 범위를 적절히 설정하였는지 확인 — 감리 표준 점검항목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27648" y="3826763"/>
            <a:ext cx="182880" cy="182880"/>
          </a:xfrm>
          <a:prstGeom prst="downArrow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09360" y="4101083"/>
            <a:ext cx="5074920" cy="2025397"/>
          </a:xfrm>
          <a:prstGeom prst="roundRect">
            <a:avLst>
              <a:gd name="adj" fmla="val 7000"/>
            </a:avLst>
          </a:prstGeom>
          <a:solidFill>
            <a:srgbClr val="2A4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101083"/>
            <a:ext cx="73152" cy="2025397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4210811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E868C"/>
                </a:solidFill>
                <a:latin typeface="맑은 고딕"/>
              </a:rPr>
              <a:t>핵심 근거 요약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4521707"/>
            <a:ext cx="4617720" cy="15590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타기관 실제사례가 범위 혼재의 실무 위험을 보여주고, MA-DS-08이 대상·범위 설정을 감리 표준 점검항목으로 명시하여 이를 뒷받침한다. 다만 제외사유의 "운영상 영향분석" 절차와 "별도 지원방안"의 구체적 기준은 1순위 문헌에서 확인되지 않아 확인 필요.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감리 점검항목 출처·근거 조사 프로젝트   |   [2-1-가-1-03]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1415" y="3108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51415" y="3108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생성형AI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9D6E8"/>
                </a:solidFill>
                <a:latin typeface="맑은 고딕"/>
              </a:rPr>
              <a:t>3. 생성형AI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0">
                <a:solidFill>
                  <a:srgbClr val="C9D6E8"/>
                </a:solidFill>
                <a:latin typeface="맑은 고딕"/>
              </a:rPr>
              <a:t>1. 요구정의단계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가. 사업관리 및 품질보증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점검항목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1. 사업 추진전략 및 수행체계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0552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[3-1-가-1-01]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</a:rPr>
              <a:t>검토항목 일련번호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4617720" cy="86868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맑은 고딕"/>
              </a:rPr>
              <a:t>사업 수행체계 및 조직구성이 적정한가?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96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95959"/>
                </a:solidFill>
                <a:latin typeface="맑은 고딕"/>
              </a:rPr>
              <a:t>상세 검토항목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" y="4265676"/>
            <a:ext cx="100584" cy="10058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21538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발주기관·수행사·감리 간 역할 및 책임 정의 여부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" y="4878324"/>
            <a:ext cx="100584" cy="10058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828032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AI·데이터·보안·인프라 전문조직 구성 여부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18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9D6E8"/>
                </a:solidFill>
                <a:latin typeface="맑은 고딕"/>
              </a:rPr>
              <a:t>출처 문헌 →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600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B0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제도적 근거 · 확인필요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91656" y="2212848"/>
            <a:ext cx="0" cy="1565452"/>
          </a:xfrm>
          <a:prstGeom prst="line">
            <a:avLst/>
          </a:prstGeom>
          <a:ln w="15875">
            <a:solidFill>
              <a:srgbClr val="5A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318504" y="2139696"/>
            <a:ext cx="146304" cy="14630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01968" y="2130552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176272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8E44AD"/>
                </a:solidFill>
                <a:latin typeface="맑은 고딕"/>
              </a:rPr>
              <a:t>[감리점검해설서] PM01-1-D1[자원관리] 검토항목 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86584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사업 수행에 필요한 조직·인력의 적정 투입 및 역할 명확화 확인 — 표준 검토항목</a:t>
            </a:r>
          </a:p>
        </p:txBody>
      </p:sp>
      <p:sp>
        <p:nvSpPr>
          <p:cNvPr id="29" name="Oval 28"/>
          <p:cNvSpPr/>
          <p:nvPr/>
        </p:nvSpPr>
        <p:spPr>
          <a:xfrm>
            <a:off x="6318504" y="2922422"/>
            <a:ext cx="146304" cy="14630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01968" y="2913278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2958998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8E44AD"/>
                </a:solidFill>
                <a:latin typeface="맑은 고딕"/>
              </a:rPr>
              <a:t>[구축운영지침] 제4조 7·8호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169310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지능정보화책임관/전담인력이 정보시스템·감리·PMO 사업 전반의 제도자문·준수현황을 관리하도록 법정 의무화</a:t>
            </a:r>
          </a:p>
        </p:txBody>
      </p:sp>
      <p:sp>
        <p:nvSpPr>
          <p:cNvPr id="33" name="Oval 32"/>
          <p:cNvSpPr/>
          <p:nvPr/>
        </p:nvSpPr>
        <p:spPr>
          <a:xfrm>
            <a:off x="6318504" y="3705148"/>
            <a:ext cx="146304" cy="14630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01968" y="3696004"/>
            <a:ext cx="4782312" cy="6547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741724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8E44AD"/>
                </a:solidFill>
                <a:latin typeface="맑은 고딕"/>
              </a:rPr>
              <a:t>[이용자보호가이드라인] 원칙4-다, 원칙5-나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952036"/>
            <a:ext cx="4453128" cy="362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맑은 고딕"/>
              </a:rPr>
              <a:t>학습데이터 활용 관련 기업 내 감시조직, 위험관리 전담책임자/조직 구성 실행사례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6327648" y="4369002"/>
            <a:ext cx="182880" cy="182880"/>
          </a:xfrm>
          <a:prstGeom prst="down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9360" y="4643322"/>
            <a:ext cx="5074920" cy="1483158"/>
          </a:xfrm>
          <a:prstGeom prst="roundRect">
            <a:avLst>
              <a:gd name="adj" fmla="val 7000"/>
            </a:avLst>
          </a:prstGeom>
          <a:solidFill>
            <a:srgbClr val="2A4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643322"/>
            <a:ext cx="73152" cy="148315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475305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8E44AD"/>
                </a:solidFill>
                <a:latin typeface="맑은 고딕"/>
              </a:rPr>
              <a:t>핵심 근거 요약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5063946"/>
            <a:ext cx="4617720" cy="1016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PM01-1-D1이 역할·책임 정의를 표준 점검관점으로 제시하고, 구축운영지침이 발주기관측 수행체계의 법적 근거를 제공한다. 다만 "AI·데이터·보안·인프라" 4개 전문조직을 모두 포괄하여 요구하는 조문은 1순위 문헌에서 확인되지 않아 확인 필요(사업별 재량사항으로 판단).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감리 점검항목 출처·근거 조사 프로젝트   |   [3-1-가-1-01]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1415" y="3108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51415" y="3108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생성형AI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9D6E8"/>
                </a:solidFill>
                <a:latin typeface="맑은 고딕"/>
              </a:rPr>
              <a:t>3. 생성형AI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0">
                <a:solidFill>
                  <a:srgbClr val="C9D6E8"/>
                </a:solidFill>
                <a:latin typeface="맑은 고딕"/>
              </a:rPr>
              <a:t>1. 요구정의단계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가. 사업관리 및 품질보증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점검항목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2. 요구사항 및 범위관리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0552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[3-1-가-2-01]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</a:rPr>
              <a:t>검토항목 일련번호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4617720" cy="86868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맑은 고딕"/>
              </a:rPr>
              <a:t>요구사항 관리체계가 체계적으로 수립되었는가?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96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95959"/>
                </a:solidFill>
                <a:latin typeface="맑은 고딕"/>
              </a:rPr>
              <a:t>상세 검토항목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" y="4265676"/>
            <a:ext cx="100584" cy="10058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21538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기능·비기능·AI·보안 요구사항 분류 여부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" y="4878324"/>
            <a:ext cx="100584" cy="10058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828032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요구사항 우선순위 및 중요도 정의 여부</a:t>
            </a:r>
          </a:p>
        </p:txBody>
      </p:sp>
      <p:sp>
        <p:nvSpPr>
          <p:cNvPr id="20" name="Oval 19"/>
          <p:cNvSpPr/>
          <p:nvPr/>
        </p:nvSpPr>
        <p:spPr>
          <a:xfrm>
            <a:off x="836676" y="5271516"/>
            <a:ext cx="100584" cy="10058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221224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요구사항 변경관리 절차 정의 여부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618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9D6E8"/>
                </a:solidFill>
                <a:latin typeface="맑은 고딕"/>
              </a:rPr>
              <a:t>출처 문헌 → 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00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B0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법정 근거 · 확인필요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91656" y="2212848"/>
            <a:ext cx="0" cy="1649576"/>
          </a:xfrm>
          <a:prstGeom prst="line">
            <a:avLst/>
          </a:prstGeom>
          <a:ln w="15875">
            <a:solidFill>
              <a:srgbClr val="5A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18504" y="2139696"/>
            <a:ext cx="146304" cy="14630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2130552"/>
            <a:ext cx="4782312" cy="6967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176272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8E44AD"/>
                </a:solidFill>
                <a:latin typeface="맑은 고딕"/>
              </a:rPr>
              <a:t>[수행가이드] 정보시스템 감리기준 제8조①②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386584"/>
            <a:ext cx="4453128" cy="404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요구사항정의서를 세부항목별 과업대비표로 작성, 발주자 확인 후 감리법인 제출 의무</a:t>
            </a:r>
          </a:p>
        </p:txBody>
      </p:sp>
      <p:sp>
        <p:nvSpPr>
          <p:cNvPr id="31" name="Oval 30"/>
          <p:cNvSpPr/>
          <p:nvPr/>
        </p:nvSpPr>
        <p:spPr>
          <a:xfrm>
            <a:off x="6318504" y="2964484"/>
            <a:ext cx="146304" cy="14630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1968" y="2955340"/>
            <a:ext cx="4782312" cy="6967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001060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8E44AD"/>
                </a:solidFill>
                <a:latin typeface="맑은 고딕"/>
              </a:rPr>
              <a:t>[감리점검해설서] PM01-1-B1[변경관리] 검토항목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211372"/>
            <a:ext cx="4453128" cy="404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변경관리 절차 정립 — 파급효과 분석(일정·비용·자원·품질), 변경 이력관리</a:t>
            </a:r>
          </a:p>
        </p:txBody>
      </p:sp>
      <p:sp>
        <p:nvSpPr>
          <p:cNvPr id="35" name="Oval 34"/>
          <p:cNvSpPr/>
          <p:nvPr/>
        </p:nvSpPr>
        <p:spPr>
          <a:xfrm>
            <a:off x="6318504" y="3789272"/>
            <a:ext cx="146304" cy="14630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01968" y="3780128"/>
            <a:ext cx="4782312" cy="5404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825848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8E44AD"/>
                </a:solidFill>
                <a:latin typeface="맑은 고딕"/>
              </a:rPr>
              <a:t>[구축운영지침] 제45·46조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036160"/>
            <a:ext cx="4453128" cy="2478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과업내용의 변경 및 변경절차를 법령 차원에서 규정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27648" y="4338826"/>
            <a:ext cx="182880" cy="182880"/>
          </a:xfrm>
          <a:prstGeom prst="down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09360" y="4613146"/>
            <a:ext cx="5074920" cy="1513334"/>
          </a:xfrm>
          <a:prstGeom prst="roundRect">
            <a:avLst>
              <a:gd name="adj" fmla="val 7000"/>
            </a:avLst>
          </a:prstGeom>
          <a:solidFill>
            <a:srgbClr val="2A4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13146"/>
            <a:ext cx="73152" cy="151333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472287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8E44AD"/>
                </a:solidFill>
                <a:latin typeface="맑은 고딕"/>
              </a:rPr>
              <a:t>핵심 근거 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5033770"/>
            <a:ext cx="4617720" cy="1046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감리기준 제8조가 요구사항의 세부항목별 체계화(과업대비표)를, PM01-1-B1이 변경관리 절차 정립을 뒷받침한다. 다만 "AI·보안" 요구사항을 별도 분류범주로 요구하는 조문과 우선순위 산정기준 자체는 1순위 문헌에서 확인되지 않아 확인 필요.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감리 점검항목 출처·근거 조사 프로젝트   |   [3-1-가-2-01]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51415" y="3108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51415" y="3108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생성형AI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C9D6E8"/>
                </a:solidFill>
                <a:latin typeface="맑은 고딕"/>
              </a:rPr>
              <a:t>3. 생성형AI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0">
                <a:solidFill>
                  <a:srgbClr val="C9D6E8"/>
                </a:solidFill>
                <a:latin typeface="맑은 고딕"/>
              </a:rPr>
              <a:t>1. 요구정의단계</a:t>
            </a:r>
            <a:r>
              <a:rPr sz="1800" b="0">
                <a:solidFill>
                  <a:srgbClr val="9AADC7"/>
                </a:solidFill>
                <a:latin typeface="맑은 고딕"/>
              </a:rPr>
              <a:t>  ›  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가. 사업관리 및 품질보증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맑은 고딕"/>
              </a:rPr>
              <a:t>점검항목  </a:t>
            </a:r>
            <a:r>
              <a:rPr sz="1500" b="1">
                <a:solidFill>
                  <a:srgbClr val="1F3864"/>
                </a:solidFill>
                <a:latin typeface="맑은 고딕"/>
              </a:rPr>
              <a:t>2. 요구사항 및 범위관리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0552"/>
            <a:ext cx="2103120" cy="384048"/>
          </a:xfrm>
          <a:prstGeom prst="roundRect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30552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[3-1-가-2-02]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3055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</a:rPr>
              <a:t>검토항목 일련번호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4617720" cy="868680"/>
          </a:xfrm>
          <a:prstGeom prst="roundRect">
            <a:avLst>
              <a:gd name="adj" fmla="val 6000"/>
            </a:avLst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70632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 i="0">
                <a:solidFill>
                  <a:srgbClr val="1F3864"/>
                </a:solidFill>
                <a:latin typeface="맑은 고딕"/>
              </a:rPr>
              <a:t>사업 범위 및 단계별 구축범위가 명확히 정의되었는가?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962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595959"/>
                </a:solidFill>
                <a:latin typeface="맑은 고딕"/>
              </a:rPr>
              <a:t>상세 검토항목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" y="4265676"/>
            <a:ext cx="100584" cy="10058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21538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챗봇·AI포털·지식검색·인프라 범위 정의 여부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" y="4878324"/>
            <a:ext cx="100584" cy="10058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828032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시범운영 범위 및 본오픈 범위 구분 여부</a:t>
            </a:r>
          </a:p>
        </p:txBody>
      </p:sp>
      <p:sp>
        <p:nvSpPr>
          <p:cNvPr id="20" name="Oval 19"/>
          <p:cNvSpPr/>
          <p:nvPr/>
        </p:nvSpPr>
        <p:spPr>
          <a:xfrm>
            <a:off x="836676" y="5271516"/>
            <a:ext cx="100584" cy="10058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221224"/>
            <a:ext cx="43434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맑은 고딕"/>
              </a:rPr>
              <a:t>본 사업 구축범위와 향후 확산범위 구분 여부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618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9D6E8"/>
                </a:solidFill>
                <a:latin typeface="맑은 고딕"/>
              </a:rPr>
              <a:t>출처 문헌 → 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002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B0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60020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실무기준 · 확인필요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91656" y="2212848"/>
            <a:ext cx="0" cy="824788"/>
          </a:xfrm>
          <a:prstGeom prst="line">
            <a:avLst/>
          </a:prstGeom>
          <a:ln w="15875">
            <a:solidFill>
              <a:srgbClr val="5A7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18504" y="2139696"/>
            <a:ext cx="146304" cy="14630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2130552"/>
            <a:ext cx="4782312" cy="6967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176272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8E44AD"/>
                </a:solidFill>
                <a:latin typeface="맑은 고딕"/>
              </a:rPr>
              <a:t>[감리점검해설서] PM01-1-A1·A2[범위관리]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386584"/>
            <a:ext cx="4453128" cy="404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과업범위 일관성 확인 + WBS로 작업단위·주체·내용·기간·산출물 구체화 요구</a:t>
            </a:r>
          </a:p>
        </p:txBody>
      </p:sp>
      <p:sp>
        <p:nvSpPr>
          <p:cNvPr id="31" name="Oval 30"/>
          <p:cNvSpPr/>
          <p:nvPr/>
        </p:nvSpPr>
        <p:spPr>
          <a:xfrm>
            <a:off x="6318504" y="2964484"/>
            <a:ext cx="146304" cy="146304"/>
          </a:xfrm>
          <a:prstGeom prst="ellipse">
            <a:avLst/>
          </a:prstGeom>
          <a:solidFill>
            <a:srgbClr val="8E44A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1968" y="2955340"/>
            <a:ext cx="4782312" cy="85313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001060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8E44AD"/>
                </a:solidFill>
                <a:latin typeface="맑은 고딕"/>
              </a:rPr>
              <a:t>[AI보안가이드북] AI시스템 구축유형 4분류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211372"/>
            <a:ext cx="4453128" cy="560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맑은 고딕"/>
              </a:rPr>
              <a:t>내부망전용/내부업무-외부연계/대민서비스-내부연계/상용AI활용 — 정보검색 챗봇 등 실제 구축사례 제시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27648" y="3826763"/>
            <a:ext cx="182880" cy="182880"/>
          </a:xfrm>
          <a:prstGeom prst="down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09360" y="4101083"/>
            <a:ext cx="5074920" cy="2025397"/>
          </a:xfrm>
          <a:prstGeom prst="roundRect">
            <a:avLst>
              <a:gd name="adj" fmla="val 7000"/>
            </a:avLst>
          </a:prstGeom>
          <a:solidFill>
            <a:srgbClr val="2A4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101083"/>
            <a:ext cx="73152" cy="2025397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4210811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8E44AD"/>
                </a:solidFill>
                <a:latin typeface="맑은 고딕"/>
              </a:rPr>
              <a:t>핵심 근거 요약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4521707"/>
            <a:ext cx="4617720" cy="15590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WBS 기반 범위 분할 원칙과 AI보안가이드북의 시스템 유형 4분류가 챗봇·지식검색 등 구성요소별 범위 정의를 뒷받침한다. 다만 "AI포털" 명칭 및 시범운영·본오픈·확산범위 구분을 요구정의단계에서 직접 규정한 조문은 확인되지 않아 확인 필요.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감리 점검항목 출처·근거 조사 프로젝트   |   [3-1-가-2-02]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