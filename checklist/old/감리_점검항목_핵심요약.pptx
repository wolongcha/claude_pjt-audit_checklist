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latin typeface="맑은 고딕"/>
              </a:rPr>
              <a:t>단계별 항목 수 분포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클라우드 전환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Sheet1!$A$2:$A$4</c:f>
              <c:strCache>
                <c:ptCount val="3"/>
                <c:pt idx="0">
                  <c:v>요구정의</c:v>
                </c:pt>
                <c:pt idx="1">
                  <c:v>설계</c:v>
                </c:pt>
                <c:pt idx="2">
                  <c:v>종료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117</c:v>
                </c:pt>
                <c:pt idx="1">
                  <c:v>145</c:v>
                </c:pt>
                <c:pt idx="2">
                  <c:v>173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운영 및 유지관리</c:v>
                </c:pt>
              </c:strCache>
            </c:strRef>
          </c:tx>
          <c:spPr>
            <a:solidFill>
              <a:srgbClr val="2E868C"/>
            </a:solidFill>
          </c:spPr>
          <c:cat>
            <c:strRef>
              <c:f>Sheet1!$A$2:$A$4</c:f>
              <c:strCache>
                <c:ptCount val="3"/>
                <c:pt idx="0">
                  <c:v>요구정의</c:v>
                </c:pt>
                <c:pt idx="1">
                  <c:v>설계</c:v>
                </c:pt>
                <c:pt idx="2">
                  <c:v>종료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95</c:v>
                </c:pt>
                <c:pt idx="1">
                  <c:v>77</c:v>
                </c:pt>
                <c:pt idx="2">
                  <c:v>82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생성형 AI</c:v>
                </c:pt>
              </c:strCache>
            </c:strRef>
          </c:tx>
          <c:spPr>
            <a:solidFill>
              <a:srgbClr val="E07A2C"/>
            </a:solidFill>
          </c:spPr>
          <c:cat>
            <c:strRef>
              <c:f>Sheet1!$A$2:$A$4</c:f>
              <c:strCache>
                <c:ptCount val="3"/>
                <c:pt idx="0">
                  <c:v>요구정의</c:v>
                </c:pt>
                <c:pt idx="1">
                  <c:v>설계</c:v>
                </c:pt>
                <c:pt idx="2">
                  <c:v>종료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121</c:v>
                </c:pt>
                <c:pt idx="1">
                  <c:v>150</c:v>
                </c:pt>
                <c:pt idx="2">
                  <c:v>161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latin typeface="맑은 고딕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맑은 고딕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>
              <a:latin typeface="맑은 고딕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480560"/>
            <a:ext cx="12191695" cy="54864"/>
          </a:xfrm>
          <a:prstGeom prst="rect">
            <a:avLst/>
          </a:prstGeom>
          <a:solidFill>
            <a:srgbClr val="E0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659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C9D6E8"/>
                </a:solidFill>
                <a:latin typeface="맑은 고딕"/>
              </a:rPr>
              <a:t>감리 점검항목 출처·근거 조사 결과 공유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6070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>
                <a:solidFill>
                  <a:srgbClr val="FFFFFF"/>
                </a:solidFill>
                <a:latin typeface="맑은 고딕"/>
              </a:rPr>
              <a:t>클라우드 전환 · 운영 및 유지관리 · 생성형 AI</a:t>
            </a:r>
          </a:p>
          <a:p>
            <a:pPr algn="l">
              <a:lnSpc>
                <a:spcPct val="115000"/>
              </a:lnSpc>
            </a:pPr>
            <a:r>
              <a:rPr sz="3800" b="1">
                <a:solidFill>
                  <a:srgbClr val="FFFFFF"/>
                </a:solidFill>
                <a:latin typeface="맑은 고딕"/>
              </a:rPr>
              <a:t>감리 점검항목 1,121건 해설서 발간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7091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D8E0EC"/>
                </a:solidFill>
                <a:latin typeface="맑은 고딕"/>
              </a:rPr>
              <a:t>모든 점검항목에 법령·지침·표준 등 출처와 근거를 부여하여 감리의 객관성과 신뢰성을 확보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72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AADC7"/>
                </a:solidFill>
                <a:latin typeface="맑은 고딕"/>
              </a:rPr>
              <a:t>2026. 08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0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D6E8"/>
                </a:solidFill>
                <a:latin typeface="맑은 고딕"/>
              </a:rPr>
              <a:t>01  BACKGROUND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맑은 고딕"/>
              </a:rPr>
              <a:t>왜 이 작업을 했는가 — 배경 및 목적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5212080" cy="4846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F3864"/>
                </a:solidFill>
                <a:latin typeface="맑은 고딕"/>
              </a:rPr>
              <a:t>기존 문제점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470916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9144">
              <a:lnSpc>
                <a:spcPct val="130000"/>
              </a:lnSpc>
              <a:spcAft>
                <a:spcPts val="1400"/>
              </a:spcAft>
            </a:pPr>
            <a:r>
              <a:rPr sz="1400" b="0">
                <a:solidFill>
                  <a:srgbClr val="333333"/>
                </a:solidFill>
                <a:latin typeface="맑은 고딕"/>
              </a:rPr>
              <a:t>▪ 감리 점검항목(1,121건) 각각이 어떤 법령·지침·표준에 근거하는지 문서화되어 있지 않음</a:t>
            </a:r>
          </a:p>
          <a:p>
            <a:pPr marL="9144">
              <a:lnSpc>
                <a:spcPct val="130000"/>
              </a:lnSpc>
              <a:spcAft>
                <a:spcPts val="1400"/>
              </a:spcAft>
            </a:pPr>
            <a:r>
              <a:rPr sz="1400" b="0">
                <a:solidFill>
                  <a:srgbClr val="333333"/>
                </a:solidFill>
                <a:latin typeface="맑은 고딕"/>
              </a:rPr>
              <a:t>▪ 점검항목의 타당성을 감리원·발주기관에 설명할 근거자료 부재</a:t>
            </a:r>
          </a:p>
          <a:p>
            <a:pPr marL="9144">
              <a:lnSpc>
                <a:spcPct val="130000"/>
              </a:lnSpc>
              <a:spcAft>
                <a:spcPts val="1400"/>
              </a:spcAft>
            </a:pPr>
            <a:r>
              <a:rPr sz="1400" b="0">
                <a:solidFill>
                  <a:srgbClr val="333333"/>
                </a:solidFill>
                <a:latin typeface="맑은 고딕"/>
              </a:rPr>
              <a:t>▪ 항목별 근거 수준이 제각각이라 신규 감리원 교육·인수인계 시 일관성 부족</a:t>
            </a:r>
          </a:p>
        </p:txBody>
      </p:sp>
      <p:sp>
        <p:nvSpPr>
          <p:cNvPr id="9" name="Rectangle 8"/>
          <p:cNvSpPr/>
          <p:nvPr/>
        </p:nvSpPr>
        <p:spPr>
          <a:xfrm>
            <a:off x="5989320" y="1417320"/>
            <a:ext cx="5715000" cy="48463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64592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맑은 고딕"/>
              </a:rPr>
              <a:t>이번 작업의 목표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2103120"/>
            <a:ext cx="521208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9144">
              <a:lnSpc>
                <a:spcPct val="130000"/>
              </a:lnSpc>
              <a:spcAft>
                <a:spcPts val="1400"/>
              </a:spcAft>
            </a:pPr>
            <a:r>
              <a:rPr sz="1400" b="0">
                <a:solidFill>
                  <a:srgbClr val="FFFFFF"/>
                </a:solidFill>
                <a:latin typeface="맑은 고딕"/>
              </a:rPr>
              <a:t>▪ 클라우드 전환·운영 및 유지관리·생성형 AI 3개 사업유형, 전체 1,121개 점검항목에 대해 출처문헌과 근거를 전수 조사</a:t>
            </a:r>
          </a:p>
          <a:p>
            <a:pPr marL="9144">
              <a:lnSpc>
                <a:spcPct val="130000"/>
              </a:lnSpc>
              <a:spcAft>
                <a:spcPts val="1400"/>
              </a:spcAft>
            </a:pPr>
            <a:r>
              <a:rPr sz="1400" b="0">
                <a:solidFill>
                  <a:srgbClr val="FFFFFF"/>
                </a:solidFill>
                <a:latin typeface="맑은 고딕"/>
              </a:rPr>
              <a:t>▪ 확인되지 않은 내용은 절대 임의로 근거를 지어내지 않고 "확인 필요"로 투명하게 표기</a:t>
            </a:r>
          </a:p>
          <a:p>
            <a:pPr marL="9144">
              <a:lnSpc>
                <a:spcPct val="130000"/>
              </a:lnSpc>
              <a:spcAft>
                <a:spcPts val="1400"/>
              </a:spcAft>
            </a:pPr>
            <a:r>
              <a:rPr sz="1400" b="0">
                <a:solidFill>
                  <a:srgbClr val="FFFFFF"/>
                </a:solidFill>
                <a:latin typeface="맑은 고딕"/>
              </a:rPr>
              <a:t>▪ 조사 결과를 감리 수행 시 인용 가능한 해설서(Word/Markdown) 형태로 정리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95959"/>
                </a:solidFill>
                <a:latin typeface="맑은 고딕"/>
              </a:rPr>
              <a:t>감리 점검항목 출처·근거 조사 프로젝트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5379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95959"/>
                </a:solidFill>
                <a:latin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0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D6E8"/>
                </a:solidFill>
                <a:latin typeface="맑은 고딕"/>
              </a:rPr>
              <a:t>02 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맑은 고딕"/>
              </a:rPr>
              <a:t>조사 개요 — 규모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2651760" cy="15544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2651760" cy="73152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73352"/>
            <a:ext cx="2651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1F3864"/>
                </a:solidFill>
                <a:latin typeface="맑은 고딕"/>
              </a:rPr>
              <a:t>1,121개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7744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595959"/>
                </a:solidFill>
                <a:latin typeface="맑은 고딕"/>
              </a:rPr>
              <a:t>전체 점검항목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417320"/>
            <a:ext cx="2651760" cy="15544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1417320"/>
            <a:ext cx="2651760" cy="73152"/>
          </a:xfrm>
          <a:prstGeom prst="rect">
            <a:avLst/>
          </a:prstGeom>
          <a:solidFill>
            <a:srgbClr val="2E8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1673352"/>
            <a:ext cx="2651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2E868C"/>
                </a:solidFill>
                <a:latin typeface="맑은 고딕"/>
              </a:rPr>
              <a:t>54개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37744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595959"/>
                </a:solidFill>
                <a:latin typeface="맑은 고딕"/>
              </a:rPr>
              <a:t>세부 점검영역(표)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417320"/>
            <a:ext cx="2651760" cy="15544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417320"/>
            <a:ext cx="2651760" cy="73152"/>
          </a:xfrm>
          <a:prstGeom prst="rect">
            <a:avLst/>
          </a:prstGeom>
          <a:solidFill>
            <a:srgbClr val="E0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1673352"/>
            <a:ext cx="2651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E07A2C"/>
                </a:solidFill>
                <a:latin typeface="맑은 고딕"/>
              </a:rPr>
              <a:t>3개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37744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595959"/>
                </a:solidFill>
                <a:latin typeface="맑은 고딕"/>
              </a:rPr>
              <a:t>사업유형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0" y="1417320"/>
            <a:ext cx="2651760" cy="15544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0" y="1417320"/>
            <a:ext cx="2651760" cy="7315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0" y="1673352"/>
            <a:ext cx="2651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2E7D32"/>
                </a:solidFill>
                <a:latin typeface="맑은 고딕"/>
              </a:rPr>
              <a:t>3단계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237744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595959"/>
                </a:solidFill>
                <a:latin typeface="맑은 고딕"/>
              </a:rPr>
              <a:t>요구정의·설계·종료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2461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3864"/>
                </a:solidFill>
                <a:latin typeface="맑은 고딕"/>
              </a:rPr>
              <a:t>사업유형별 항목 수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502920" y="3703320"/>
          <a:ext cx="55778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1005840"/>
                <a:gridCol w="1554480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사업유형</a:t>
                      </a:r>
                    </a:p>
                  </a:txBody>
                  <a:tcPr anchor="ctr" marL="73152" marR="73152" marT="36576" marB="36576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항목 수</a:t>
                      </a:r>
                    </a:p>
                  </a:txBody>
                  <a:tcPr anchor="ctr" marL="73152" marR="73152" marT="36576" marB="36576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맑은 고딕"/>
                        </a:rPr>
                        <a:t>구성</a:t>
                      </a:r>
                    </a:p>
                  </a:txBody>
                  <a:tcPr anchor="ctr" marL="73152" marR="73152" marT="36576" marB="36576">
                    <a:solidFill>
                      <a:srgbClr val="1F386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맑은 고딕"/>
                        </a:rPr>
                        <a:t>1. 클라우드 전환 사업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  <a:latin typeface="맑은 고딕"/>
                        </a:rPr>
                        <a:t>435건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맑은 고딕"/>
                        </a:rPr>
                        <a:t>18개 표 · 요구정의/설계/전환결과확인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맑은 고딕"/>
                        </a:rPr>
                        <a:t>2. 운영 및 유지관리 사업</a:t>
                      </a:r>
                    </a:p>
                  </a:txBody>
                  <a:tcPr anchor="ctr"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  <a:latin typeface="맑은 고딕"/>
                        </a:rPr>
                        <a:t>254건</a:t>
                      </a:r>
                    </a:p>
                  </a:txBody>
                  <a:tcPr anchor="ctr" marL="73152" marR="73152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맑은 고딕"/>
                        </a:rPr>
                        <a:t>18개 표 · 요구정의/설계/결과확인</a:t>
                      </a:r>
                    </a:p>
                  </a:txBody>
                  <a:tcPr anchor="ctr" marL="73152" marR="73152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맑은 고딕"/>
                        </a:rPr>
                        <a:t>3. 생성형 AI 사업 감리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333333"/>
                          </a:solidFill>
                          <a:latin typeface="맑은 고딕"/>
                        </a:rPr>
                        <a:t>432건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33333"/>
                          </a:solidFill>
                          <a:latin typeface="맑은 고딕"/>
                        </a:rPr>
                        <a:t>18개 표 · 요구정의/설계/종료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4" name="Chart 23"/>
          <p:cNvGraphicFramePr>
            <a:graphicFrameLocks noGrp="1"/>
          </p:cNvGraphicFramePr>
          <p:nvPr/>
        </p:nvGraphicFramePr>
        <p:xfrm>
          <a:off x="6446520" y="1417320"/>
          <a:ext cx="5257800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95959"/>
                </a:solidFill>
                <a:latin typeface="맑은 고딕"/>
              </a:rPr>
              <a:t>감리 점검항목 출처·근거 조사 프로젝트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5379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95959"/>
                </a:solidFill>
                <a:latin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0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D6E8"/>
                </a:solidFill>
                <a:latin typeface="맑은 고딕"/>
              </a:rPr>
              <a:t>03 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맑은 고딕"/>
              </a:rPr>
              <a:t>조사 방법론 — 출처 우선순위 3단계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63040"/>
            <a:ext cx="36576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hevron 6"/>
          <p:cNvSpPr/>
          <p:nvPr/>
        </p:nvSpPr>
        <p:spPr>
          <a:xfrm>
            <a:off x="502920" y="1463040"/>
            <a:ext cx="3657600" cy="1371600"/>
          </a:xfrm>
          <a:prstGeom prst="chevron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1순위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7180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3864"/>
                </a:solidFill>
                <a:latin typeface="맑은 고딕"/>
              </a:rPr>
              <a:t>사내 보유 우선출처문헌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32004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3333"/>
                </a:solidFill>
                <a:latin typeface="맑은 고딕"/>
              </a:rPr>
              <a:t>클라우드전환·운영및유지관리·생성형AI 관련 자체 보유 법령해설서·감리기준·매뉴얼·가이드 문서를 최우선 조사 대상으로 사용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463040"/>
            <a:ext cx="36576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evron 10"/>
          <p:cNvSpPr/>
          <p:nvPr/>
        </p:nvSpPr>
        <p:spPr>
          <a:xfrm>
            <a:off x="4343400" y="1463040"/>
            <a:ext cx="3657600" cy="1371600"/>
          </a:xfrm>
          <a:prstGeom prst="chevron">
            <a:avLst/>
          </a:prstGeom>
          <a:solidFill>
            <a:srgbClr val="2E8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2순위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97180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3864"/>
                </a:solidFill>
                <a:latin typeface="맑은 고딕"/>
              </a:rPr>
              <a:t>공식 법령·공공 가이드·국제표준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474720"/>
            <a:ext cx="32004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3333"/>
                </a:solidFill>
                <a:latin typeface="맑은 고딕"/>
              </a:rPr>
              <a:t>국가법령정보센터(law.go.kr), 정부·공공기관 공식 가이드(NIA/KISA 등), ISO, TTA 표준, 학술논문·저서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83880" y="1463040"/>
            <a:ext cx="36576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8183880" y="1463040"/>
            <a:ext cx="3657600" cy="1371600"/>
          </a:xfrm>
          <a:prstGeom prst="chevron">
            <a:avLst/>
          </a:prstGeom>
          <a:solidFill>
            <a:srgbClr val="E0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맑은 고딕"/>
              </a:rPr>
              <a:t>3순위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97180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3864"/>
                </a:solidFill>
                <a:latin typeface="맑은 고딕"/>
              </a:rPr>
              <a:t>업계 사실상 표준(de facto)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474720"/>
            <a:ext cx="32004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3333"/>
                </a:solidFill>
                <a:latin typeface="맑은 고딕"/>
              </a:rPr>
              <a:t>1·2순위에서 근거를 찾지 못한 항목에 한해 널리 통용되는 벤더 공식문서·오픈소스 프로젝트 공식문서까지 확대 조사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892040"/>
            <a:ext cx="11201400" cy="12344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029200"/>
            <a:ext cx="64008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07A2C"/>
                </a:solidFill>
                <a:latin typeface="맑은 고딕"/>
              </a:rPr>
              <a:t>원칙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5029200"/>
            <a:ext cx="98755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>
                <a:solidFill>
                  <a:srgbClr val="FFFFFF"/>
                </a:solidFill>
                <a:latin typeface="맑은 고딕"/>
              </a:rPr>
              <a:t>3단계를 모두 거쳐도 근거를 확인할 수 없는 내용은 절대로 출처를 임의로 지어내지 않고, "확인 필요"로 명시하여 후속 검증 대상을 명확히 남긴다.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95959"/>
                </a:solidFill>
                <a:latin typeface="맑은 고딕"/>
              </a:rPr>
              <a:t>감리 점검항목 출처·근거 조사 프로젝트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5379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95959"/>
                </a:solidFill>
                <a:latin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0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D6E8"/>
                </a:solidFill>
                <a:latin typeface="맑은 고딕"/>
              </a:rPr>
              <a:t>04 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맑은 고딕"/>
              </a:rPr>
              <a:t>신뢰도 확보 결과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3520440" cy="2103120"/>
          </a:xfrm>
          <a:prstGeom prst="rect">
            <a:avLst/>
          </a:prstGeom>
          <a:solidFill>
            <a:srgbClr val="E8F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3520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>
                <a:solidFill>
                  <a:srgbClr val="2E7D32"/>
                </a:solidFill>
                <a:latin typeface="맑은 고딕"/>
              </a:rPr>
              <a:t>0건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14600"/>
            <a:ext cx="3063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333333"/>
                </a:solidFill>
                <a:latin typeface="맑은 고딕"/>
              </a:rPr>
              <a:t>완전 무근거 항목</a:t>
            </a:r>
          </a:p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333333"/>
                </a:solidFill>
                <a:latin typeface="맑은 고딕"/>
              </a:rPr>
              <a:t>(3단계 조사 후 최종)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417320"/>
            <a:ext cx="3520440" cy="2103120"/>
          </a:xfrm>
          <a:prstGeom prst="rect">
            <a:avLst/>
          </a:prstGeom>
          <a:solidFill>
            <a:srgbClr val="FB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0" y="1600200"/>
            <a:ext cx="3520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>
                <a:solidFill>
                  <a:srgbClr val="E07A2C"/>
                </a:solidFill>
                <a:latin typeface="맑은 고딕"/>
              </a:rPr>
              <a:t>679건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514600"/>
            <a:ext cx="3063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333333"/>
                </a:solidFill>
                <a:latin typeface="맑은 고딕"/>
              </a:rPr>
              <a:t>세부기준 일부 확인 필요</a:t>
            </a:r>
          </a:p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333333"/>
                </a:solidFill>
                <a:latin typeface="맑은 고딕"/>
              </a:rPr>
              <a:t>(전체의 약 61%, 일반원칙 근거는 확보)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09560" y="1417320"/>
            <a:ext cx="3794760" cy="2103120"/>
          </a:xfrm>
          <a:prstGeom prst="rect">
            <a:avLst/>
          </a:prstGeom>
          <a:solidFill>
            <a:srgbClr val="E9E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09560" y="1600200"/>
            <a:ext cx="3794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>
                <a:solidFill>
                  <a:srgbClr val="1F3864"/>
                </a:solidFill>
                <a:latin typeface="맑은 고딕"/>
              </a:rPr>
              <a:t>442건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514600"/>
            <a:ext cx="3337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333333"/>
                </a:solidFill>
                <a:latin typeface="맑은 고딕"/>
              </a:rPr>
              <a:t>출처·근거 완전 확인</a:t>
            </a:r>
          </a:p>
          <a:p>
            <a:pPr algn="ctr">
              <a:lnSpc>
                <a:spcPct val="120000"/>
              </a:lnSpc>
            </a:pPr>
            <a:r>
              <a:rPr sz="1300" b="0">
                <a:solidFill>
                  <a:srgbClr val="333333"/>
                </a:solidFill>
                <a:latin typeface="맑은 고딕"/>
              </a:rPr>
              <a:t>(전체의 약 39%)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749039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3864"/>
                </a:solidFill>
                <a:latin typeface="맑은 고딕"/>
              </a:rPr>
              <a:t>"확인 필요"의 의미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206240"/>
            <a:ext cx="521208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9144">
              <a:lnSpc>
                <a:spcPct val="130000"/>
              </a:lnSpc>
              <a:spcAft>
                <a:spcPts val="1200"/>
              </a:spcAft>
            </a:pPr>
            <a:r>
              <a:rPr sz="1350" b="0">
                <a:solidFill>
                  <a:srgbClr val="333333"/>
                </a:solidFill>
                <a:latin typeface="맑은 고딕"/>
              </a:rPr>
              <a:t>▪ "근거 없음"이 아니라 "일반원칙 수준 근거는 있으나, 항목이 요구하는 구체적 수치·서식·절차까지는 특정 문헌에서 확인하지 못함"을 뜻함</a:t>
            </a:r>
          </a:p>
          <a:p>
            <a:pPr marL="9144">
              <a:lnSpc>
                <a:spcPct val="130000"/>
              </a:lnSpc>
              <a:spcAft>
                <a:spcPts val="1200"/>
              </a:spcAft>
            </a:pPr>
            <a:r>
              <a:rPr sz="1350" b="0">
                <a:solidFill>
                  <a:srgbClr val="333333"/>
                </a:solidFill>
                <a:latin typeface="맑은 고딕"/>
              </a:rPr>
              <a:t>▪ 예: 데이터 복제 지연시간 관리 원칙은 AWS DMS·Oracle GoldenGate 등 업계표준 문헌으로 확인되나, "허용 지연시간 O초" 같은 수치 기준은 문헌상 미확인</a:t>
            </a:r>
          </a:p>
          <a:p>
            <a:pPr marL="9144">
              <a:lnSpc>
                <a:spcPct val="130000"/>
              </a:lnSpc>
              <a:spcAft>
                <a:spcPts val="1200"/>
              </a:spcAft>
            </a:pPr>
            <a:r>
              <a:rPr sz="1350" b="0">
                <a:solidFill>
                  <a:srgbClr val="333333"/>
                </a:solidFill>
                <a:latin typeface="맑은 고딕"/>
              </a:rPr>
              <a:t>▪ 대상 항목은 checklist/output/_확인필요_항목_목록.md 에 전수 정리되어 있어 추가 검증·내규화 시 우선순위로 활용 가능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89320" y="3749039"/>
            <a:ext cx="5715000" cy="26517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393192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3864"/>
                </a:solidFill>
                <a:latin typeface="맑은 고딕"/>
              </a:rPr>
              <a:t>재조사로 근거를 보강한 사례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4343400"/>
            <a:ext cx="516636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9144">
              <a:lnSpc>
                <a:spcPct val="125000"/>
              </a:lnSpc>
              <a:spcAft>
                <a:spcPts val="1000"/>
              </a:spcAft>
            </a:pPr>
            <a:r>
              <a:rPr sz="1250" b="0">
                <a:solidFill>
                  <a:srgbClr val="333333"/>
                </a:solidFill>
                <a:latin typeface="맑은 고딕"/>
              </a:rPr>
              <a:t>▪ 변경관리 일반원칙 → ITIL®4 Change Enablement Practice(AWS Well-Architected 인용)</a:t>
            </a:r>
          </a:p>
          <a:p>
            <a:pPr marL="9144">
              <a:lnSpc>
                <a:spcPct val="125000"/>
              </a:lnSpc>
              <a:spcAft>
                <a:spcPts val="1000"/>
              </a:spcAft>
            </a:pPr>
            <a:r>
              <a:rPr sz="1250" b="0">
                <a:solidFill>
                  <a:srgbClr val="333333"/>
                </a:solidFill>
                <a:latin typeface="맑은 고딕"/>
              </a:rPr>
              <a:t>▪ CDC 데이터 복제 모니터링/재처리 → AWS DMS·Oracle GoldenGate·Debezium 공식 기술문서</a:t>
            </a:r>
          </a:p>
          <a:p>
            <a:pPr marL="9144">
              <a:lnSpc>
                <a:spcPct val="125000"/>
              </a:lnSpc>
              <a:spcAft>
                <a:spcPts val="1000"/>
              </a:spcAft>
            </a:pPr>
            <a:r>
              <a:rPr sz="1250" b="0">
                <a:solidFill>
                  <a:srgbClr val="333333"/>
                </a:solidFill>
                <a:latin typeface="맑은 고딕"/>
              </a:rPr>
              <a:t>▪ RAG 2단계 검색 구조(Top-K 검색→재정렬) → LangChain·LlamaIndex 공식 문서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95959"/>
                </a:solidFill>
                <a:latin typeface="맑은 고딕"/>
              </a:rPr>
              <a:t>감리 점검항목 출처·근거 조사 프로젝트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5379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95959"/>
                </a:solidFill>
                <a:latin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0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D6E8"/>
                </a:solidFill>
                <a:latin typeface="맑은 고딕"/>
              </a:rPr>
              <a:t>05  DELIVERABLES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맑은 고딕"/>
              </a:rPr>
              <a:t>산출물 안내 — 어디서 확인하나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109728" cy="118872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2648" y="1417320"/>
            <a:ext cx="11064240" cy="11887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27048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3864"/>
                </a:solidFill>
                <a:latin typeface="맑은 고딕"/>
              </a:rPr>
              <a:t>감리_점검항목_해설서.docx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84248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333333"/>
                </a:solidFill>
                <a:latin typeface="맑은 고딕"/>
              </a:rPr>
              <a:t>전체 1,121개 항목의 검토내용·출처문헌·근거를 목차와 함께 정리한 통합 해설서 (Word)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697480"/>
            <a:ext cx="109728" cy="1188720"/>
          </a:xfrm>
          <a:prstGeom prst="rect">
            <a:avLst/>
          </a:prstGeom>
          <a:solidFill>
            <a:srgbClr val="2E8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648" y="2697480"/>
            <a:ext cx="11064240" cy="11887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807208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3864"/>
                </a:solidFill>
                <a:latin typeface="맑은 고딕"/>
              </a:rPr>
              <a:t>_전체_통합_출처근거조사.md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64408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333333"/>
                </a:solidFill>
                <a:latin typeface="맑은 고딕"/>
              </a:rPr>
              <a:t>위 해설서와 동일 내용의 Markdown 통합본 — 검색·버전관리에 용이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977640"/>
            <a:ext cx="109728" cy="1188720"/>
          </a:xfrm>
          <a:prstGeom prst="rect">
            <a:avLst/>
          </a:prstGeom>
          <a:solidFill>
            <a:srgbClr val="E0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" y="3977640"/>
            <a:ext cx="11064240" cy="11887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087368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3864"/>
                </a:solidFill>
                <a:latin typeface="맑은 고딕"/>
              </a:rPr>
              <a:t>table_01~54_출처근거조사.md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544568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333333"/>
                </a:solidFill>
                <a:latin typeface="맑은 고딕"/>
              </a:rPr>
              <a:t>사업유형·단계·영역별 54개 세부 파일 — 담당 영역만 발췌해 보기에 적합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257800"/>
            <a:ext cx="109728" cy="11887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" y="5257800"/>
            <a:ext cx="11064240" cy="11887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367528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3864"/>
                </a:solidFill>
                <a:latin typeface="맑은 고딕"/>
              </a:rPr>
              <a:t>_확인필요_항목_목록.md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824728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333333"/>
                </a:solidFill>
                <a:latin typeface="맑은 고딕"/>
              </a:rPr>
              <a:t>"확인 필요" 679건 전수 목록 — 후속 검증·내규화 우선순위 자료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95959"/>
                </a:solidFill>
                <a:latin typeface="맑은 고딕"/>
              </a:rPr>
              <a:t>감리 점검항목 출처·근거 조사 프로젝트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5379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95959"/>
                </a:solidFill>
                <a:latin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0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D6E8"/>
                </a:solidFill>
                <a:latin typeface="맑은 고딕"/>
              </a:rPr>
              <a:t>06 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맑은 고딕"/>
              </a:rPr>
              <a:t>활용 방안 및 향후 계획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F3864"/>
                </a:solidFill>
                <a:latin typeface="맑은 고딕"/>
              </a:rPr>
              <a:t>즉시 활용 가능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74519"/>
            <a:ext cx="539496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9144">
              <a:lnSpc>
                <a:spcPct val="135000"/>
              </a:lnSpc>
              <a:spcAft>
                <a:spcPts val="1600"/>
              </a:spcAft>
            </a:pPr>
            <a:r>
              <a:rPr sz="1450" b="0">
                <a:solidFill>
                  <a:srgbClr val="333333"/>
                </a:solidFill>
                <a:latin typeface="맑은 고딕"/>
              </a:rPr>
              <a:t>▪ 감리 수행 시 점검항목별 지적사항에 대한 인용 근거자료로 활용</a:t>
            </a:r>
          </a:p>
          <a:p>
            <a:pPr marL="9144">
              <a:lnSpc>
                <a:spcPct val="135000"/>
              </a:lnSpc>
              <a:spcAft>
                <a:spcPts val="1600"/>
              </a:spcAft>
            </a:pPr>
            <a:r>
              <a:rPr sz="1450" b="0">
                <a:solidFill>
                  <a:srgbClr val="333333"/>
                </a:solidFill>
                <a:latin typeface="맑은 고딕"/>
              </a:rPr>
              <a:t>▪ 신규 감리원 교육자료 — 점검항목이 왜 필요한지 배경 이해에 활용</a:t>
            </a:r>
          </a:p>
          <a:p>
            <a:pPr marL="9144">
              <a:lnSpc>
                <a:spcPct val="135000"/>
              </a:lnSpc>
              <a:spcAft>
                <a:spcPts val="1600"/>
              </a:spcAft>
            </a:pPr>
            <a:r>
              <a:rPr sz="1450" b="0">
                <a:solidFill>
                  <a:srgbClr val="333333"/>
                </a:solidFill>
                <a:latin typeface="맑은 고딕"/>
              </a:rPr>
              <a:t>▪ 발주기관·수행사와의 협의 시 점검항목의 타당성 설명 자료로 활용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4173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F3864"/>
                </a:solidFill>
                <a:latin typeface="맑은 고딕"/>
              </a:rPr>
              <a:t>후속 과제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874519"/>
            <a:ext cx="539496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9144">
              <a:lnSpc>
                <a:spcPct val="135000"/>
              </a:lnSpc>
              <a:spcAft>
                <a:spcPts val="1600"/>
              </a:spcAft>
            </a:pPr>
            <a:r>
              <a:rPr sz="1450" b="0">
                <a:solidFill>
                  <a:srgbClr val="333333"/>
                </a:solidFill>
                <a:latin typeface="맑은 고딕"/>
              </a:rPr>
              <a:t>▪ "확인 필요" 679건 중 정량기준·서식이 필요한 항목은 사내 표준으로 별도 제정 검토</a:t>
            </a:r>
          </a:p>
          <a:p>
            <a:pPr marL="9144">
              <a:lnSpc>
                <a:spcPct val="135000"/>
              </a:lnSpc>
              <a:spcAft>
                <a:spcPts val="1600"/>
              </a:spcAft>
            </a:pPr>
            <a:r>
              <a:rPr sz="1450" b="0">
                <a:solidFill>
                  <a:srgbClr val="333333"/>
                </a:solidFill>
                <a:latin typeface="맑은 고딕"/>
              </a:rPr>
              <a:t>▪ law.go.kr 원문 직접 대조가 보류된 항목(예: 산출물 작성자·검토자·승인자 지정 규정) 확인</a:t>
            </a:r>
          </a:p>
          <a:p>
            <a:pPr marL="9144">
              <a:lnSpc>
                <a:spcPct val="135000"/>
              </a:lnSpc>
              <a:spcAft>
                <a:spcPts val="1600"/>
              </a:spcAft>
            </a:pPr>
            <a:r>
              <a:rPr sz="1450" b="0">
                <a:solidFill>
                  <a:srgbClr val="333333"/>
                </a:solidFill>
                <a:latin typeface="맑은 고딕"/>
              </a:rPr>
              <a:t>▪ 체크리스트 원본 개정(v0.44 이후) 발생 시 해설서 동기화 프로세스 정례화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623560"/>
            <a:ext cx="11201400" cy="6858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623560"/>
            <a:ext cx="106984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</a:rPr>
              <a:t>전체 자료는 GitHub 저장소(wolongcha/claude_pjt-audit_checklist)에서 버전관리되며 열람 가능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95959"/>
                </a:solidFill>
                <a:latin typeface="맑은 고딕"/>
              </a:rPr>
              <a:t>감리 점검항목 출처·근거 조사 프로젝트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53796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95959"/>
                </a:solidFill>
                <a:latin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108960"/>
            <a:ext cx="12191695" cy="54864"/>
          </a:xfrm>
          <a:prstGeom prst="rect">
            <a:avLst/>
          </a:prstGeom>
          <a:solidFill>
            <a:srgbClr val="E07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2461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맑은 고딕"/>
              </a:rP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1148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C9D6E8"/>
                </a:solidFill>
                <a:latin typeface="맑은 고딕"/>
              </a:rPr>
              <a:t>문의사항은 담당자에게 연락 바랍니다.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